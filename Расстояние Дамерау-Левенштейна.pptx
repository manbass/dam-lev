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notesMasterIdLst>
    <p:notesMasterId r:id="rId12"/>
  </p:notesMasterIdLst>
  <p:sldIdLst>
    <p:sldId id="256" r:id="rId2"/>
    <p:sldId id="257" r:id="rId3"/>
    <p:sldId id="259" r:id="rId4"/>
    <p:sldId id="258" r:id="rId5"/>
    <p:sldId id="260" r:id="rId6"/>
    <p:sldId id="264" r:id="rId7"/>
    <p:sldId id="261" r:id="rId8"/>
    <p:sldId id="265" r:id="rId9"/>
    <p:sldId id="262" r:id="rId10"/>
    <p:sldId id="263" r:id="rId11"/>
  </p:sldIdLst>
  <p:sldSz cx="9144000" cy="6858000" type="screen4x3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&#1050;&#1085;&#1080;&#1075;&#1072;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ru-RU"/>
  <c:chart>
    <c:plotArea>
      <c:layout/>
      <c:lineChart>
        <c:grouping val="standard"/>
        <c:ser>
          <c:idx val="0"/>
          <c:order val="0"/>
          <c:tx>
            <c:v>10</c:v>
          </c:tx>
          <c:marker>
            <c:symbol val="none"/>
          </c:marker>
          <c:cat>
            <c:numRef>
              <c:f>Лист1!$A$2:$A$6</c:f>
              <c:numCache>
                <c:formatCode>General</c:formatCode>
                <c:ptCount val="5"/>
                <c:pt idx="0">
                  <c:v>10</c:v>
                </c:pt>
                <c:pt idx="1">
                  <c:v>1000</c:v>
                </c:pt>
                <c:pt idx="2">
                  <c:v>10000</c:v>
                </c:pt>
                <c:pt idx="3">
                  <c:v>100000</c:v>
                </c:pt>
                <c:pt idx="4">
                  <c:v>1000000</c:v>
                </c:pt>
              </c:numCache>
            </c:numRef>
          </c:cat>
          <c:val>
            <c:numLit>
              <c:formatCode>General</c:formatCode>
              <c:ptCount val="5"/>
              <c:pt idx="0">
                <c:v>0</c:v>
              </c:pt>
              <c:pt idx="1">
                <c:v>0</c:v>
              </c:pt>
              <c:pt idx="2">
                <c:v>5.000000000000003E-5</c:v>
              </c:pt>
              <c:pt idx="3">
                <c:v>5.0000000000000023E-4</c:v>
              </c:pt>
              <c:pt idx="4">
                <c:v>6.0000000000000019E-3</c:v>
              </c:pt>
            </c:numLit>
          </c:val>
        </c:ser>
        <c:ser>
          <c:idx val="1"/>
          <c:order val="1"/>
          <c:tx>
            <c:v>10000</c:v>
          </c:tx>
          <c:marker>
            <c:symbol val="none"/>
          </c:marker>
          <c:cat>
            <c:numRef>
              <c:f>Лист1!$A$2:$A$6</c:f>
              <c:numCache>
                <c:formatCode>General</c:formatCode>
                <c:ptCount val="5"/>
                <c:pt idx="0">
                  <c:v>10</c:v>
                </c:pt>
                <c:pt idx="1">
                  <c:v>1000</c:v>
                </c:pt>
                <c:pt idx="2">
                  <c:v>10000</c:v>
                </c:pt>
                <c:pt idx="3">
                  <c:v>100000</c:v>
                </c:pt>
                <c:pt idx="4">
                  <c:v>1000000</c:v>
                </c:pt>
              </c:numCache>
            </c:numRef>
          </c:cat>
          <c:val>
            <c:numLit>
              <c:formatCode>General</c:formatCode>
              <c:ptCount val="5"/>
              <c:pt idx="0">
                <c:v>5.000000000000003E-5</c:v>
              </c:pt>
              <c:pt idx="1">
                <c:v>6.0000000000000019E-3</c:v>
              </c:pt>
              <c:pt idx="2">
                <c:v>1.0000000000000004E-2</c:v>
              </c:pt>
              <c:pt idx="3">
                <c:v>3.0000000000000002E-2</c:v>
              </c:pt>
              <c:pt idx="4">
                <c:v>0.05</c:v>
              </c:pt>
            </c:numLit>
          </c:val>
        </c:ser>
        <c:ser>
          <c:idx val="2"/>
          <c:order val="2"/>
          <c:tx>
            <c:v>1000000</c:v>
          </c:tx>
          <c:marker>
            <c:symbol val="none"/>
          </c:marker>
          <c:cat>
            <c:numRef>
              <c:f>Лист1!$A$2:$A$6</c:f>
              <c:numCache>
                <c:formatCode>General</c:formatCode>
                <c:ptCount val="5"/>
                <c:pt idx="0">
                  <c:v>10</c:v>
                </c:pt>
                <c:pt idx="1">
                  <c:v>1000</c:v>
                </c:pt>
                <c:pt idx="2">
                  <c:v>10000</c:v>
                </c:pt>
                <c:pt idx="3">
                  <c:v>100000</c:v>
                </c:pt>
                <c:pt idx="4">
                  <c:v>1000000</c:v>
                </c:pt>
              </c:numCache>
            </c:numRef>
          </c:cat>
          <c:val>
            <c:numLit>
              <c:formatCode>General</c:formatCode>
              <c:ptCount val="5"/>
              <c:pt idx="0">
                <c:v>6.0000000000000019E-3</c:v>
              </c:pt>
              <c:pt idx="1">
                <c:v>3.0000000000000002E-2</c:v>
              </c:pt>
              <c:pt idx="2">
                <c:v>0.1</c:v>
              </c:pt>
              <c:pt idx="3">
                <c:v>0.3000000000000001</c:v>
              </c:pt>
              <c:pt idx="4">
                <c:v>0.8</c:v>
              </c:pt>
            </c:numLit>
          </c:val>
        </c:ser>
        <c:marker val="1"/>
        <c:axId val="50175360"/>
        <c:axId val="50513792"/>
      </c:lineChart>
      <c:catAx>
        <c:axId val="50175360"/>
        <c:scaling>
          <c:orientation val="minMax"/>
        </c:scaling>
        <c:axPos val="b"/>
        <c:numFmt formatCode="General" sourceLinked="1"/>
        <c:tickLblPos val="nextTo"/>
        <c:crossAx val="50513792"/>
        <c:crosses val="autoZero"/>
        <c:auto val="1"/>
        <c:lblAlgn val="ctr"/>
        <c:lblOffset val="100"/>
      </c:catAx>
      <c:valAx>
        <c:axId val="50513792"/>
        <c:scaling>
          <c:orientation val="minMax"/>
          <c:max val="0.30000000000000016"/>
        </c:scaling>
        <c:axPos val="l"/>
        <c:majorGridlines/>
        <c:numFmt formatCode="General" sourceLinked="1"/>
        <c:tickLblPos val="nextTo"/>
        <c:crossAx val="50175360"/>
        <c:crosses val="autoZero"/>
        <c:crossBetween val="between"/>
        <c:majorUnit val="2.0000000000000011E-2"/>
        <c:minorUnit val="1.0000000000000007E-3"/>
      </c:valAx>
    </c:plotArea>
    <c:legend>
      <c:legendPos val="r"/>
      <c:layout/>
    </c:legend>
    <c:plotVisOnly val="1"/>
  </c:chart>
  <c:externalData r:id="rId1"/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349A2D-92F5-4710-BE67-6E77C08361D3}" type="datetimeFigureOut">
              <a:rPr lang="uk-UA" smtClean="0"/>
              <a:pPr/>
              <a:t>23.12.2016</a:t>
            </a:fld>
            <a:endParaRPr lang="uk-UA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215CCE-AF23-4495-999C-AAA41A96BE05}" type="slidenum">
              <a:rPr lang="uk-UA" smtClean="0"/>
              <a:pPr/>
              <a:t>‹#›</a:t>
            </a:fld>
            <a:endParaRPr lang="uk-U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13" name="Скругленный прямоугольник 12"/>
          <p:cNvSpPr/>
          <p:nvPr/>
        </p:nvSpPr>
        <p:spPr>
          <a:xfrm>
            <a:off x="65313" y="69755"/>
            <a:ext cx="9013372" cy="6692201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1295400" y="3200400"/>
            <a:ext cx="6400800" cy="1600200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28" name="Дата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97AECD-0823-41BA-9D8B-C368E8118785}" type="datetime1">
              <a:rPr lang="uk-UA" smtClean="0"/>
              <a:pPr/>
              <a:t>23.12.2016</a:t>
            </a:fld>
            <a:endParaRPr lang="uk-UA"/>
          </a:p>
        </p:txBody>
      </p:sp>
      <p:sp>
        <p:nvSpPr>
          <p:cNvPr id="17" name="Нижний колонтитул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29" name="Номер слайда 28"/>
          <p:cNvSpPr>
            <a:spLocks noGrp="1"/>
          </p:cNvSpPr>
          <p:nvPr>
            <p:ph type="sldNum" sz="quarter" idx="12"/>
          </p:nvPr>
        </p:nvSpPr>
        <p:spPr/>
        <p:txBody>
          <a:bodyPr lIns="0" tIns="0" rIns="0" bIns="0">
            <a:noAutofit/>
          </a:bodyPr>
          <a:lstStyle>
            <a:lvl1pPr>
              <a:defRPr sz="1400">
                <a:solidFill>
                  <a:srgbClr val="FFFFFF"/>
                </a:solidFill>
              </a:defRPr>
            </a:lvl1pPr>
          </a:lstStyle>
          <a:p>
            <a:fld id="{8C1BB2CE-649B-4B5B-84DD-9887057A02CF}" type="slidenum">
              <a:rPr lang="uk-UA" smtClean="0"/>
              <a:pPr/>
              <a:t>‹#›</a:t>
            </a:fld>
            <a:endParaRPr lang="uk-UA"/>
          </a:p>
        </p:txBody>
      </p:sp>
      <p:sp>
        <p:nvSpPr>
          <p:cNvPr id="7" name="Прямоугольник 6"/>
          <p:cNvSpPr/>
          <p:nvPr/>
        </p:nvSpPr>
        <p:spPr>
          <a:xfrm>
            <a:off x="62931" y="1449303"/>
            <a:ext cx="9021537" cy="1527349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Прямоугольник 9"/>
          <p:cNvSpPr/>
          <p:nvPr/>
        </p:nvSpPr>
        <p:spPr>
          <a:xfrm>
            <a:off x="62931" y="1396720"/>
            <a:ext cx="9021537" cy="120580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>
          <a:xfrm>
            <a:off x="62931" y="2976649"/>
            <a:ext cx="9021537" cy="110532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57200" y="1505930"/>
            <a:ext cx="8229600" cy="1470025"/>
          </a:xfrm>
        </p:spPr>
        <p:txBody>
          <a:bodyPr anchor="ctr"/>
          <a:lstStyle>
            <a:lvl1pPr algn="ctr">
              <a:defRPr lang="en-US" dirty="0">
                <a:solidFill>
                  <a:srgbClr val="FFFFFF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D80563-11F3-4593-B5E4-AA06B1BEF6B9}" type="datetime1">
              <a:rPr lang="uk-UA" smtClean="0"/>
              <a:pPr/>
              <a:t>23.12.2016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‹#›</a:t>
            </a:fld>
            <a:endParaRPr lang="uk-UA"/>
          </a:p>
        </p:txBody>
      </p:sp>
      <p:sp>
        <p:nvSpPr>
          <p:cNvPr id="8" name="Содержимое 7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7772400" cy="45720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10" name="Скругленный прямоугольник 9"/>
          <p:cNvSpPr/>
          <p:nvPr/>
        </p:nvSpPr>
        <p:spPr>
          <a:xfrm>
            <a:off x="65313" y="69755"/>
            <a:ext cx="9013372" cy="6692201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3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952500"/>
            <a:ext cx="7772400" cy="1362075"/>
          </a:xfrm>
        </p:spPr>
        <p:txBody>
          <a:bodyPr anchor="b" anchorCtr="0"/>
          <a:lstStyle>
            <a:lvl1pPr algn="l">
              <a:buNone/>
              <a:defRPr sz="4000" b="0" cap="none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547938"/>
            <a:ext cx="7772400" cy="1338262"/>
          </a:xfrm>
        </p:spPr>
        <p:txBody>
          <a:bodyPr anchor="t" anchorCtr="0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170B0-1960-4FF3-8309-C820EA024C9A}" type="datetime1">
              <a:rPr lang="uk-UA" smtClean="0"/>
              <a:pPr/>
              <a:t>23.12.2016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800100" y="6172200"/>
            <a:ext cx="4000500" cy="457200"/>
          </a:xfrm>
        </p:spPr>
        <p:txBody>
          <a:bodyPr/>
          <a:lstStyle/>
          <a:p>
            <a:endParaRPr lang="uk-UA"/>
          </a:p>
        </p:txBody>
      </p:sp>
      <p:sp>
        <p:nvSpPr>
          <p:cNvPr id="7" name="Прямоугольник 6"/>
          <p:cNvSpPr/>
          <p:nvPr/>
        </p:nvSpPr>
        <p:spPr>
          <a:xfrm flipV="1">
            <a:off x="69412" y="2376830"/>
            <a:ext cx="9013515" cy="9144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Прямоугольник 7"/>
          <p:cNvSpPr/>
          <p:nvPr/>
        </p:nvSpPr>
        <p:spPr>
          <a:xfrm>
            <a:off x="69146" y="2341475"/>
            <a:ext cx="9013781" cy="45719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Прямоугольник 8"/>
          <p:cNvSpPr/>
          <p:nvPr/>
        </p:nvSpPr>
        <p:spPr>
          <a:xfrm>
            <a:off x="68306" y="2468880"/>
            <a:ext cx="9014621" cy="45720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46304" y="6208776"/>
            <a:ext cx="457200" cy="457200"/>
          </a:xfrm>
        </p:spPr>
        <p:txBody>
          <a:bodyPr/>
          <a:lstStyle/>
          <a:p>
            <a:fld id="{8C1BB2CE-649B-4B5B-84DD-9887057A02CF}" type="slidenum">
              <a:rPr lang="uk-UA" smtClean="0"/>
              <a:pPr/>
              <a:t>‹#›</a:t>
            </a:fld>
            <a:endParaRPr lang="uk-UA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81642-BF58-4433-8133-7F391E894A7F}" type="datetime1">
              <a:rPr lang="uk-UA" smtClean="0"/>
              <a:pPr/>
              <a:t>23.12.2016</a:t>
            </a:fld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‹#›</a:t>
            </a:fld>
            <a:endParaRPr lang="uk-UA"/>
          </a:p>
        </p:txBody>
      </p:sp>
      <p:sp>
        <p:nvSpPr>
          <p:cNvPr id="9" name="Содержимое 8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3749040" cy="45720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11" name="Содержимое 10"/>
          <p:cNvSpPr>
            <a:spLocks noGrp="1"/>
          </p:cNvSpPr>
          <p:nvPr>
            <p:ph sz="quarter" idx="2"/>
          </p:nvPr>
        </p:nvSpPr>
        <p:spPr>
          <a:xfrm>
            <a:off x="4933950" y="1447800"/>
            <a:ext cx="3749040" cy="45720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 anchor="b" anchorCtr="0"/>
          <a:lstStyle>
            <a:lvl1pPr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144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9530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900A1-D0A2-4CDF-839B-A5624CBDB681}" type="datetime1">
              <a:rPr lang="uk-UA" smtClean="0"/>
              <a:pPr/>
              <a:t>23.12.2016</a:t>
            </a:fld>
            <a:endParaRPr lang="uk-UA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‹#›</a:t>
            </a:fld>
            <a:endParaRPr lang="uk-UA"/>
          </a:p>
        </p:txBody>
      </p:sp>
      <p:sp>
        <p:nvSpPr>
          <p:cNvPr id="11" name="Содержимое 10"/>
          <p:cNvSpPr>
            <a:spLocks noGrp="1"/>
          </p:cNvSpPr>
          <p:nvPr>
            <p:ph sz="half" idx="2"/>
          </p:nvPr>
        </p:nvSpPr>
        <p:spPr>
          <a:xfrm>
            <a:off x="914400" y="2247900"/>
            <a:ext cx="3733800" cy="38862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13" name="Содержимое 12"/>
          <p:cNvSpPr>
            <a:spLocks noGrp="1"/>
          </p:cNvSpPr>
          <p:nvPr>
            <p:ph sz="half" idx="4"/>
          </p:nvPr>
        </p:nvSpPr>
        <p:spPr>
          <a:xfrm>
            <a:off x="4953000" y="2247900"/>
            <a:ext cx="3733800" cy="38862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7DD46-EB00-41A1-805A-61CC4BD99E66}" type="datetime1">
              <a:rPr lang="uk-UA" smtClean="0"/>
              <a:pPr/>
              <a:t>23.12.2016</a:t>
            </a:fld>
            <a:endParaRPr lang="uk-UA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5585-BA18-4958-B1C1-D6A93BAFB0B3}" type="datetime1">
              <a:rPr lang="uk-UA" smtClean="0"/>
              <a:pPr/>
              <a:t>23.12.2016</a:t>
            </a:fld>
            <a:endParaRPr lang="uk-UA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9" name="Скругленный прямоугольник 8"/>
          <p:cNvSpPr/>
          <p:nvPr/>
        </p:nvSpPr>
        <p:spPr>
          <a:xfrm>
            <a:off x="64008" y="69755"/>
            <a:ext cx="9013372" cy="6693408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 anchor="b" anchorCtr="0"/>
          <a:lstStyle>
            <a:lvl1pPr algn="l">
              <a:buNone/>
              <a:defRPr sz="4000" b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914400" y="1600200"/>
            <a:ext cx="1905000" cy="4495800"/>
          </a:xfrm>
        </p:spPr>
        <p:txBody>
          <a:bodyPr/>
          <a:lstStyle>
            <a:lvl1pPr marL="0" indent="0">
              <a:buNone/>
              <a:defRPr sz="18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D531-4820-4EDE-AFA1-89ED44638702}" type="datetime1">
              <a:rPr lang="uk-UA" smtClean="0"/>
              <a:pPr/>
              <a:t>23.12.2016</a:t>
            </a:fld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‹#›</a:t>
            </a:fld>
            <a:endParaRPr lang="uk-UA"/>
          </a:p>
        </p:txBody>
      </p:sp>
      <p:sp>
        <p:nvSpPr>
          <p:cNvPr id="11" name="Содержимое 10"/>
          <p:cNvSpPr>
            <a:spLocks noGrp="1"/>
          </p:cNvSpPr>
          <p:nvPr>
            <p:ph sz="quarter" idx="1"/>
          </p:nvPr>
        </p:nvSpPr>
        <p:spPr>
          <a:xfrm>
            <a:off x="2971800" y="1600200"/>
            <a:ext cx="5715000" cy="44958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4900550"/>
            <a:ext cx="7315200" cy="522288"/>
          </a:xfrm>
        </p:spPr>
        <p:txBody>
          <a:bodyPr anchor="ctr">
            <a:noAutofit/>
          </a:bodyPr>
          <a:lstStyle>
            <a:lvl1pPr algn="l">
              <a:buNone/>
              <a:defRPr sz="2800" b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914400" y="5445825"/>
            <a:ext cx="7315200" cy="685800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D81F4-89A1-4562-9E95-8322C06D08E2}" type="datetime1">
              <a:rPr lang="uk-UA" smtClean="0"/>
              <a:pPr/>
              <a:t>23.12.2016</a:t>
            </a:fld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>
          <a:xfrm>
            <a:off x="914400" y="6172200"/>
            <a:ext cx="3886200" cy="457200"/>
          </a:xfrm>
        </p:spPr>
        <p:txBody>
          <a:bodyPr/>
          <a:lstStyle/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146304" y="6208776"/>
            <a:ext cx="457200" cy="457200"/>
          </a:xfrm>
        </p:spPr>
        <p:txBody>
          <a:bodyPr/>
          <a:lstStyle/>
          <a:p>
            <a:fld id="{8C1BB2CE-649B-4B5B-84DD-9887057A02CF}" type="slidenum">
              <a:rPr lang="uk-UA" smtClean="0"/>
              <a:pPr/>
              <a:t>‹#›</a:t>
            </a:fld>
            <a:endParaRPr lang="uk-UA"/>
          </a:p>
        </p:txBody>
      </p:sp>
      <p:sp>
        <p:nvSpPr>
          <p:cNvPr id="11" name="Прямоугольник 10"/>
          <p:cNvSpPr/>
          <p:nvPr/>
        </p:nvSpPr>
        <p:spPr>
          <a:xfrm flipV="1">
            <a:off x="68307" y="4683555"/>
            <a:ext cx="9006840" cy="9144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>
          <a:xfrm>
            <a:off x="68508" y="4650474"/>
            <a:ext cx="9006639" cy="45719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Прямоугольник 12"/>
          <p:cNvSpPr/>
          <p:nvPr/>
        </p:nvSpPr>
        <p:spPr>
          <a:xfrm>
            <a:off x="68510" y="4773224"/>
            <a:ext cx="9006637" cy="48807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68308" y="66675"/>
            <a:ext cx="9001873" cy="4581525"/>
          </a:xfrm>
          <a:prstGeom prst="round2SameRect">
            <a:avLst>
              <a:gd name="adj1" fmla="val 7101"/>
              <a:gd name="adj2" fmla="val 0"/>
            </a:avLst>
          </a:prstGeom>
          <a:solidFill>
            <a:schemeClr val="bg2"/>
          </a:solid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ru-RU" smtClean="0"/>
              <a:t>Вставка рисунка</a:t>
            </a:r>
            <a:endParaRPr kumimoji="0"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77A92-4CB5-437E-8C68-457ED5DC7689}" type="datetime1">
              <a:rPr lang="uk-UA" smtClean="0"/>
              <a:pPr/>
              <a:t>23.12.2016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41"/>
            <a:ext cx="2011680" cy="5851525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914400" y="274640"/>
            <a:ext cx="5562600" cy="5851525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DAE8A-62D7-4081-BE15-8A7122D01E78}" type="datetime1">
              <a:rPr lang="uk-UA" smtClean="0"/>
              <a:pPr/>
              <a:t>23.12.2016</a:t>
            </a:fld>
            <a:endParaRPr lang="uk-UA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‹#›</a:t>
            </a:fld>
            <a:endParaRPr lang="uk-U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8" name="Скругленный прямоугольник 7"/>
          <p:cNvSpPr/>
          <p:nvPr/>
        </p:nvSpPr>
        <p:spPr>
          <a:xfrm>
            <a:off x="64008" y="69755"/>
            <a:ext cx="9013372" cy="6693408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914400" y="274638"/>
            <a:ext cx="7772400" cy="1143000"/>
          </a:xfrm>
          <a:prstGeom prst="rect">
            <a:avLst/>
          </a:prstGeom>
        </p:spPr>
        <p:txBody>
          <a:bodyPr bIns="91440" anchor="b" anchorCtr="0">
            <a:normAutofit/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914400" y="1447800"/>
            <a:ext cx="7772400" cy="457200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6172200" y="6191250"/>
            <a:ext cx="2476500" cy="476250"/>
          </a:xfrm>
          <a:prstGeom prst="rect">
            <a:avLst/>
          </a:prstGeom>
        </p:spPr>
        <p:txBody>
          <a:bodyPr anchor="ctr" anchorCtr="0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116479D9-8B30-4CF6-AD7C-08B6756F0D71}" type="datetime1">
              <a:rPr lang="uk-UA" smtClean="0"/>
              <a:pPr/>
              <a:t>23.12.2016</a:t>
            </a:fld>
            <a:endParaRPr lang="uk-UA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914400" y="6172200"/>
            <a:ext cx="3962400" cy="457200"/>
          </a:xfrm>
          <a:prstGeom prst="rect">
            <a:avLst/>
          </a:prstGeom>
        </p:spPr>
        <p:txBody>
          <a:bodyPr anchor="ctr" anchorCtr="0"/>
          <a:lstStyle>
            <a:lvl1pPr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uk-UA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146304" y="6210300"/>
            <a:ext cx="457200" cy="457200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anchor="ctr" anchorCtr="1">
            <a:noAutofit/>
          </a:bodyPr>
          <a:lstStyle>
            <a:lvl1pPr algn="ctr" eaLnBrk="1" latinLnBrk="0" hangingPunct="1">
              <a:defRPr kumimoji="0" sz="14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fld id="{8C1BB2CE-649B-4B5B-84DD-9887057A02CF}" type="slidenum">
              <a:rPr lang="uk-UA" smtClean="0"/>
              <a:pPr/>
              <a:t>‹#›</a:t>
            </a:fld>
            <a:endParaRPr lang="uk-U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580"/>
        </a:spcBef>
        <a:buClr>
          <a:schemeClr val="accent1"/>
        </a:buClr>
        <a:buSzPct val="8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28600" algn="l" rtl="0" eaLnBrk="1" latinLnBrk="0" hangingPunct="1">
        <a:spcBef>
          <a:spcPts val="370"/>
        </a:spcBef>
        <a:buClr>
          <a:schemeClr val="accent2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370"/>
        </a:spcBef>
        <a:buClr>
          <a:schemeClr val="accent1">
            <a:tint val="60000"/>
          </a:schemeClr>
        </a:buClr>
        <a:buSzPct val="8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370"/>
        </a:spcBef>
        <a:buClr>
          <a:schemeClr val="accent3"/>
        </a:buClr>
        <a:buSzPct val="80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70"/>
        </a:spcBef>
        <a:buClr>
          <a:schemeClr val="accent3"/>
        </a:buClr>
        <a:buFontTx/>
        <a:buChar char="o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228600" algn="l" rtl="0" eaLnBrk="1" latinLnBrk="0" hangingPunct="1">
        <a:spcBef>
          <a:spcPts val="370"/>
        </a:spcBef>
        <a:buClr>
          <a:schemeClr val="accent3"/>
        </a:buClr>
        <a:buChar char="•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228600" algn="l" rtl="0" eaLnBrk="1" latinLnBrk="0" hangingPunct="1">
        <a:spcBef>
          <a:spcPts val="370"/>
        </a:spcBef>
        <a:buClr>
          <a:schemeClr val="accent2"/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228600" algn="l" rtl="0" eaLnBrk="1" latinLnBrk="0" hangingPunct="1">
        <a:spcBef>
          <a:spcPts val="370"/>
        </a:spcBef>
        <a:buClr>
          <a:schemeClr val="accent1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228600" algn="l" rtl="0" eaLnBrk="1" latinLnBrk="0" hangingPunct="1">
        <a:spcBef>
          <a:spcPts val="370"/>
        </a:spcBef>
        <a:buClr>
          <a:schemeClr val="accent2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одзаголовок 9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(</a:t>
            </a:r>
            <a:r>
              <a:rPr lang="ru-RU" dirty="0" err="1" smtClean="0"/>
              <a:t>Левенштейн++</a:t>
            </a:r>
            <a:r>
              <a:rPr lang="ru-RU" dirty="0" smtClean="0"/>
              <a:t>)</a:t>
            </a:r>
            <a:endParaRPr lang="uk-UA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1</a:t>
            </a:fld>
            <a:endParaRPr lang="uk-UA"/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smtClean="0"/>
              <a:t>Расстояние Дамерау-Левенштейна</a:t>
            </a:r>
            <a:endParaRPr lang="uk-UA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Описание задач, которые ставятся перед алгоритмом:</a:t>
            </a:r>
            <a:endParaRPr lang="uk-UA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ru-RU" dirty="0" smtClean="0"/>
              <a:t>	Нам необходимо находить редакционное расстояние между двумя строками. Алгоритм является модифицированным расстоянием Левенштейна и в нем позволяются следующие операции:</a:t>
            </a:r>
          </a:p>
          <a:p>
            <a:pPr>
              <a:buFontTx/>
              <a:buChar char="-"/>
            </a:pPr>
            <a:r>
              <a:rPr lang="ru-RU" dirty="0" smtClean="0"/>
              <a:t>Вставка символа</a:t>
            </a:r>
          </a:p>
          <a:p>
            <a:pPr>
              <a:buFontTx/>
              <a:buChar char="-"/>
            </a:pPr>
            <a:r>
              <a:rPr lang="ru-RU" dirty="0" smtClean="0"/>
              <a:t>Удаление символа</a:t>
            </a:r>
          </a:p>
          <a:p>
            <a:pPr>
              <a:buFontTx/>
              <a:buChar char="-"/>
            </a:pPr>
            <a:r>
              <a:rPr lang="ru-RU" dirty="0" smtClean="0"/>
              <a:t>Замена символа</a:t>
            </a:r>
          </a:p>
          <a:p>
            <a:pPr>
              <a:buFontTx/>
              <a:buChar char="-"/>
            </a:pPr>
            <a:r>
              <a:rPr lang="ru-RU" dirty="0" smtClean="0"/>
              <a:t>Перестановка соседних элементов</a:t>
            </a:r>
          </a:p>
          <a:p>
            <a:pPr>
              <a:buNone/>
            </a:pPr>
            <a:r>
              <a:rPr lang="ru-RU" dirty="0" smtClean="0"/>
              <a:t>    По умолчанию все операции имеют вес равный единице. </a:t>
            </a:r>
            <a:endParaRPr lang="uk-UA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2</a:t>
            </a:fld>
            <a:endParaRPr lang="uk-UA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Использование алгоритма:</a:t>
            </a:r>
            <a:endParaRPr lang="uk-UA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>
              <a:buNone/>
            </a:pPr>
            <a:r>
              <a:rPr lang="ru-RU" dirty="0" smtClean="0"/>
              <a:t>	Поиск расстояния </a:t>
            </a:r>
            <a:r>
              <a:rPr lang="ru-RU" dirty="0" err="1" smtClean="0"/>
              <a:t>Дамерау-Левенштейна</a:t>
            </a:r>
            <a:r>
              <a:rPr lang="ru-RU" dirty="0" smtClean="0"/>
              <a:t> используется в поисковых системах и в целях сравнения ДНК.</a:t>
            </a:r>
            <a:endParaRPr lang="uk-UA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3</a:t>
            </a:fld>
            <a:endParaRPr lang="uk-UA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Идея реализации алгоритма:</a:t>
            </a:r>
            <a:endParaRPr lang="uk-UA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>
              <a:buNone/>
            </a:pPr>
            <a:r>
              <a:rPr lang="ru-RU" dirty="0" smtClean="0"/>
              <a:t>	Алгоритм реализуется при использовании динамического программирования. Идея заключается в поиске наименьшего количества действий для превращения </a:t>
            </a:r>
            <a:r>
              <a:rPr lang="en-US" dirty="0" err="1" smtClean="0"/>
              <a:t>i</a:t>
            </a:r>
            <a:r>
              <a:rPr lang="ru-RU" dirty="0" smtClean="0"/>
              <a:t> </a:t>
            </a:r>
            <a:r>
              <a:rPr lang="en-US" dirty="0" smtClean="0"/>
              <a:t>- </a:t>
            </a:r>
            <a:r>
              <a:rPr lang="ru-RU" dirty="0" smtClean="0"/>
              <a:t>того префикса первой строки в </a:t>
            </a:r>
            <a:r>
              <a:rPr lang="en-US" dirty="0" smtClean="0"/>
              <a:t>j</a:t>
            </a:r>
            <a:r>
              <a:rPr lang="ru-RU" dirty="0" smtClean="0"/>
              <a:t> – </a:t>
            </a:r>
            <a:r>
              <a:rPr lang="ru-RU" dirty="0" err="1" smtClean="0"/>
              <a:t>й</a:t>
            </a:r>
            <a:r>
              <a:rPr lang="ru-RU" dirty="0" smtClean="0"/>
              <a:t> префикс второй. Соответственно, для каждого </a:t>
            </a:r>
            <a:r>
              <a:rPr lang="ru-RU" dirty="0" err="1" smtClean="0"/>
              <a:t>перфикса</a:t>
            </a:r>
            <a:r>
              <a:rPr lang="ru-RU" dirty="0" smtClean="0"/>
              <a:t> первой строки мы перебираем все возможные префиксы второй строки.</a:t>
            </a:r>
            <a:endParaRPr lang="uk-UA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4</a:t>
            </a:fld>
            <a:endParaRPr lang="uk-UA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Псевдокод:</a:t>
            </a:r>
            <a:endParaRPr lang="uk-UA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>
              <a:buNone/>
            </a:pPr>
            <a:r>
              <a:rPr lang="en-US" dirty="0" smtClean="0"/>
              <a:t> for ( </a:t>
            </a:r>
            <a:r>
              <a:rPr lang="en-US" dirty="0" err="1" smtClean="0"/>
              <a:t>i</a:t>
            </a:r>
            <a:r>
              <a:rPr lang="en-US" dirty="0" smtClean="0"/>
              <a:t> = 1; i &lt; str1.size(); ++</a:t>
            </a:r>
            <a:r>
              <a:rPr lang="en-US" dirty="0" err="1" smtClean="0"/>
              <a:t>i</a:t>
            </a:r>
            <a:r>
              <a:rPr lang="en-US" dirty="0" smtClean="0"/>
              <a:t>)</a:t>
            </a:r>
          </a:p>
          <a:p>
            <a:pPr>
              <a:buNone/>
            </a:pPr>
            <a:r>
              <a:rPr lang="en-US" dirty="0" smtClean="0"/>
              <a:t>	for ( j = 1; j &lt; str2.size(); ++j)</a:t>
            </a:r>
          </a:p>
          <a:p>
            <a:pPr>
              <a:buNone/>
            </a:pPr>
            <a:r>
              <a:rPr lang="en-US" dirty="0" smtClean="0"/>
              <a:t>		</a:t>
            </a:r>
            <a:r>
              <a:rPr lang="en-US" dirty="0" err="1" smtClean="0"/>
              <a:t>pref</a:t>
            </a:r>
            <a:r>
              <a:rPr lang="en-US" dirty="0" smtClean="0"/>
              <a:t>[</a:t>
            </a:r>
            <a:r>
              <a:rPr lang="en-US" dirty="0" err="1" smtClean="0"/>
              <a:t>i</a:t>
            </a:r>
            <a:r>
              <a:rPr lang="en-US" dirty="0" smtClean="0"/>
              <a:t>][j] = min (</a:t>
            </a:r>
            <a:r>
              <a:rPr lang="en-US" dirty="0" err="1" smtClean="0"/>
              <a:t>pref</a:t>
            </a:r>
            <a:r>
              <a:rPr lang="en-US" dirty="0" smtClean="0"/>
              <a:t>[i-1][j]</a:t>
            </a:r>
            <a:r>
              <a:rPr lang="ru-RU" dirty="0" smtClean="0"/>
              <a:t> + </a:t>
            </a:r>
            <a:r>
              <a:rPr lang="en-US" dirty="0" err="1" smtClean="0"/>
              <a:t>cost_del</a:t>
            </a:r>
            <a:r>
              <a:rPr lang="en-US" dirty="0" smtClean="0"/>
              <a:t>,  </a:t>
            </a:r>
            <a:r>
              <a:rPr lang="en-US" dirty="0" err="1" smtClean="0"/>
              <a:t>pref</a:t>
            </a:r>
            <a:r>
              <a:rPr lang="en-US" dirty="0" smtClean="0"/>
              <a:t>[i-1][j-1] + </a:t>
            </a:r>
            <a:r>
              <a:rPr lang="en-US" dirty="0" err="1" smtClean="0"/>
              <a:t>cost_zam</a:t>
            </a:r>
            <a:r>
              <a:rPr lang="en-US" dirty="0" smtClean="0"/>
              <a:t>,  </a:t>
            </a:r>
            <a:r>
              <a:rPr lang="en-US" dirty="0" err="1" smtClean="0"/>
              <a:t>pref</a:t>
            </a:r>
            <a:r>
              <a:rPr lang="en-US" dirty="0" smtClean="0"/>
              <a:t>[</a:t>
            </a:r>
            <a:r>
              <a:rPr lang="en-US" dirty="0" err="1" smtClean="0"/>
              <a:t>i</a:t>
            </a:r>
            <a:r>
              <a:rPr lang="en-US" dirty="0" smtClean="0"/>
              <a:t>][j-1] + </a:t>
            </a:r>
            <a:r>
              <a:rPr lang="en-US" dirty="0" err="1" smtClean="0"/>
              <a:t>cost_ins</a:t>
            </a:r>
            <a:r>
              <a:rPr lang="en-US" dirty="0" smtClean="0"/>
              <a:t>, </a:t>
            </a:r>
            <a:r>
              <a:rPr lang="en-US" dirty="0" err="1" smtClean="0"/>
              <a:t>pref</a:t>
            </a:r>
            <a:r>
              <a:rPr lang="en-US" dirty="0" smtClean="0"/>
              <a:t>[i-2][j-2] + </a:t>
            </a:r>
            <a:r>
              <a:rPr lang="en-US" dirty="0" err="1" smtClean="0"/>
              <a:t>cost_ch</a:t>
            </a:r>
            <a:r>
              <a:rPr lang="en-US" dirty="0" smtClean="0"/>
              <a:t>)</a:t>
            </a:r>
          </a:p>
          <a:p>
            <a:pPr>
              <a:buNone/>
            </a:pPr>
            <a:endParaRPr lang="ru-RU" dirty="0" smtClean="0"/>
          </a:p>
          <a:p>
            <a:pPr>
              <a:buNone/>
            </a:pPr>
            <a:r>
              <a:rPr lang="ru-RU" dirty="0" smtClean="0"/>
              <a:t>	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5</a:t>
            </a:fld>
            <a:endParaRPr lang="uk-UA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Скидки	</a:t>
            </a:r>
            <a:endParaRPr lang="ru-RU" dirty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6</a:t>
            </a:fld>
            <a:endParaRPr lang="uk-UA"/>
          </a:p>
        </p:txBody>
      </p:sp>
      <p:sp>
        <p:nvSpPr>
          <p:cNvPr id="4" name="Содержимое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>
              <a:buNone/>
            </a:pPr>
            <a:r>
              <a:rPr lang="ru-RU" dirty="0" smtClean="0"/>
              <a:t>	При </a:t>
            </a:r>
            <a:r>
              <a:rPr lang="ru-RU" dirty="0" smtClean="0"/>
              <a:t>реализации следует учесть, что стоимость, </a:t>
            </a:r>
            <a:r>
              <a:rPr lang="ru-RU" dirty="0" smtClean="0"/>
              <a:t>в нашем </a:t>
            </a:r>
            <a:r>
              <a:rPr lang="ru-RU" dirty="0" smtClean="0"/>
              <a:t>случае, </a:t>
            </a:r>
            <a:r>
              <a:rPr lang="ru-RU" dirty="0" smtClean="0"/>
              <a:t>не есть величина постоянная, она варьируется </a:t>
            </a:r>
            <a:r>
              <a:rPr lang="ru-RU" dirty="0" smtClean="0"/>
              <a:t>для двух действий</a:t>
            </a:r>
            <a:r>
              <a:rPr lang="ru-RU" dirty="0" smtClean="0"/>
              <a:t>: замены и перестановки.</a:t>
            </a:r>
            <a:endParaRPr lang="ru-RU" dirty="0" smtClean="0"/>
          </a:p>
          <a:p>
            <a:pPr>
              <a:buNone/>
            </a:pPr>
            <a:r>
              <a:rPr lang="ru-RU" dirty="0" smtClean="0"/>
              <a:t>	</a:t>
            </a:r>
            <a:r>
              <a:rPr lang="ru-RU" dirty="0" smtClean="0"/>
              <a:t>Очевидно, что если </a:t>
            </a:r>
            <a:r>
              <a:rPr lang="ru-RU" dirty="0" smtClean="0"/>
              <a:t>заменяемые либо переставляемые элементы равны </a:t>
            </a:r>
            <a:r>
              <a:rPr lang="ru-RU" dirty="0" smtClean="0"/>
              <a:t>изначально – </a:t>
            </a:r>
            <a:r>
              <a:rPr lang="ru-RU" dirty="0" smtClean="0"/>
              <a:t>операция выполняется бесплатно</a:t>
            </a:r>
            <a:r>
              <a:rPr lang="ru-RU" dirty="0" smtClean="0"/>
              <a:t>.</a:t>
            </a:r>
          </a:p>
          <a:p>
            <a:pPr>
              <a:buNone/>
            </a:pPr>
            <a:endParaRPr lang="ru-RU" dirty="0" smtClean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Оптимизация:</a:t>
            </a:r>
            <a:endParaRPr lang="uk-UA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ru-RU" dirty="0" smtClean="0"/>
              <a:t>	Исходя из описания алгоритма – нам </a:t>
            </a:r>
            <a:r>
              <a:rPr lang="ru-RU" dirty="0" smtClean="0"/>
              <a:t>потребуется массив </a:t>
            </a:r>
            <a:r>
              <a:rPr lang="en-US" dirty="0" smtClean="0"/>
              <a:t>n*m </a:t>
            </a:r>
            <a:r>
              <a:rPr lang="ru-RU" dirty="0" smtClean="0"/>
              <a:t>элементов, однако, всмотревшись в реализацию, мы видим ключевую оптимизацию: </a:t>
            </a:r>
            <a:r>
              <a:rPr lang="ru-RU" dirty="0" smtClean="0"/>
              <a:t>одновременно </a:t>
            </a:r>
            <a:r>
              <a:rPr lang="ru-RU" dirty="0" smtClean="0"/>
              <a:t>используются только данные для трех префиксов, следовательно нам достаточно хранить 3 массива длинной </a:t>
            </a:r>
            <a:r>
              <a:rPr lang="en-US" dirty="0" smtClean="0"/>
              <a:t>m, </a:t>
            </a:r>
            <a:r>
              <a:rPr lang="ru-RU" dirty="0" smtClean="0"/>
              <a:t>где </a:t>
            </a:r>
            <a:r>
              <a:rPr lang="en-US" dirty="0" smtClean="0"/>
              <a:t>m</a:t>
            </a:r>
            <a:r>
              <a:rPr lang="ru-RU" dirty="0" smtClean="0"/>
              <a:t> – длинна второй строки. Поэтому сложность по памяти эквивалента </a:t>
            </a:r>
            <a:r>
              <a:rPr lang="en-US" dirty="0" smtClean="0"/>
              <a:t>O(m</a:t>
            </a:r>
            <a:r>
              <a:rPr lang="en-US" dirty="0" smtClean="0"/>
              <a:t>) </a:t>
            </a:r>
            <a:r>
              <a:rPr lang="ru-RU" dirty="0" smtClean="0"/>
              <a:t>и является линейной.</a:t>
            </a:r>
            <a:endParaRPr lang="uk-UA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7</a:t>
            </a:fld>
            <a:endParaRPr lang="uk-UA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График быстродействия</a:t>
            </a:r>
            <a:endParaRPr lang="ru-RU" dirty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8</a:t>
            </a:fld>
            <a:endParaRPr lang="uk-UA"/>
          </a:p>
        </p:txBody>
      </p:sp>
      <p:sp>
        <p:nvSpPr>
          <p:cNvPr id="4" name="Содержимое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>
              <a:buNone/>
            </a:pPr>
            <a:r>
              <a:rPr lang="en-US" dirty="0" smtClean="0"/>
              <a:t>	</a:t>
            </a:r>
            <a:r>
              <a:rPr lang="ru-RU" dirty="0" smtClean="0"/>
              <a:t>График отображает время выполнения в зависимости от длинны второй строки (</a:t>
            </a:r>
            <a:r>
              <a:rPr lang="en-US" dirty="0" smtClean="0"/>
              <a:t>m) </a:t>
            </a:r>
            <a:r>
              <a:rPr lang="ru-RU" dirty="0" smtClean="0"/>
              <a:t>при константном </a:t>
            </a:r>
            <a:r>
              <a:rPr lang="en-US" dirty="0" smtClean="0"/>
              <a:t>n. O(y) – </a:t>
            </a:r>
            <a:r>
              <a:rPr lang="ru-RU" dirty="0" smtClean="0"/>
              <a:t>время, с </a:t>
            </a:r>
            <a:r>
              <a:rPr lang="en-US" dirty="0" smtClean="0"/>
              <a:t>O(x) –</a:t>
            </a:r>
            <a:r>
              <a:rPr lang="ru-RU" dirty="0" smtClean="0"/>
              <a:t> </a:t>
            </a:r>
            <a:r>
              <a:rPr lang="en-US" dirty="0" smtClean="0"/>
              <a:t>m</a:t>
            </a:r>
          </a:p>
          <a:p>
            <a:pPr>
              <a:buNone/>
            </a:pPr>
            <a:endParaRPr lang="en-US" dirty="0" smtClean="0"/>
          </a:p>
          <a:p>
            <a:pPr>
              <a:buNone/>
            </a:pPr>
            <a:endParaRPr lang="ru-RU" dirty="0"/>
          </a:p>
        </p:txBody>
      </p:sp>
      <p:graphicFrame>
        <p:nvGraphicFramePr>
          <p:cNvPr id="7" name="Диаграмма 6"/>
          <p:cNvGraphicFramePr/>
          <p:nvPr/>
        </p:nvGraphicFramePr>
        <p:xfrm>
          <a:off x="1691680" y="2780928"/>
          <a:ext cx="5976664" cy="3528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Оценка сложности:</a:t>
            </a:r>
            <a:endParaRPr lang="uk-UA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>
              <a:buNone/>
            </a:pPr>
            <a:r>
              <a:rPr lang="en-US" dirty="0" smtClean="0"/>
              <a:t>	</a:t>
            </a:r>
            <a:r>
              <a:rPr lang="ru-RU" dirty="0" smtClean="0"/>
              <a:t>Сложность по памяти, как указывалось на слайде</a:t>
            </a:r>
            <a:r>
              <a:rPr lang="en-US" dirty="0" smtClean="0"/>
              <a:t> </a:t>
            </a:r>
            <a:r>
              <a:rPr lang="en-US" dirty="0" smtClean="0"/>
              <a:t>7</a:t>
            </a:r>
            <a:r>
              <a:rPr lang="ru-RU" dirty="0" smtClean="0"/>
              <a:t>, </a:t>
            </a:r>
            <a:r>
              <a:rPr lang="ru-RU" dirty="0" smtClean="0"/>
              <a:t>равна </a:t>
            </a:r>
            <a:r>
              <a:rPr lang="en-US" dirty="0" smtClean="0"/>
              <a:t>O(m).</a:t>
            </a:r>
          </a:p>
          <a:p>
            <a:pPr>
              <a:buNone/>
            </a:pPr>
            <a:r>
              <a:rPr lang="en-US" dirty="0" smtClean="0"/>
              <a:t>	</a:t>
            </a:r>
            <a:r>
              <a:rPr lang="ru-RU" dirty="0" smtClean="0"/>
              <a:t>Для каждого префикса первой строки мы находим расстояние до каждого префикса второй, поэтому сложность по времени будет </a:t>
            </a:r>
            <a:r>
              <a:rPr lang="en-US" dirty="0" smtClean="0"/>
              <a:t>O(n*m)</a:t>
            </a:r>
            <a:r>
              <a:rPr lang="ru-RU" dirty="0" smtClean="0"/>
              <a:t>, где </a:t>
            </a:r>
            <a:r>
              <a:rPr lang="en-US" dirty="0" smtClean="0"/>
              <a:t>n </a:t>
            </a:r>
            <a:r>
              <a:rPr lang="ru-RU" dirty="0" smtClean="0"/>
              <a:t>и </a:t>
            </a:r>
            <a:r>
              <a:rPr lang="en-US" dirty="0" smtClean="0"/>
              <a:t>m</a:t>
            </a:r>
            <a:r>
              <a:rPr lang="ru-RU" dirty="0" smtClean="0"/>
              <a:t> – длинна первой и второй строки, соответственно.</a:t>
            </a:r>
            <a:endParaRPr lang="uk-UA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9</a:t>
            </a:fld>
            <a:endParaRPr lang="uk-UA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00100" y="2928934"/>
            <a:ext cx="7772400" cy="1143000"/>
          </a:xfrm>
        </p:spPr>
        <p:txBody>
          <a:bodyPr/>
          <a:lstStyle/>
          <a:p>
            <a:r>
              <a:rPr lang="ru-RU" dirty="0" smtClean="0"/>
              <a:t>	Спасибо за внимание!</a:t>
            </a:r>
            <a:endParaRPr lang="uk-UA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B2CE-649B-4B5B-84DD-9887057A02CF}" type="slidenum">
              <a:rPr lang="uk-UA" smtClean="0"/>
              <a:pPr/>
              <a:t>10</a:t>
            </a:fld>
            <a:endParaRPr lang="uk-UA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праведливость">
  <a:themeElements>
    <a:clrScheme name="Справедливость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Справедливость">
      <a:majorFont>
        <a:latin typeface="Franklin Gothic Book"/>
        <a:ea typeface=""/>
        <a:cs typeface=""/>
        <a:font script="Grek" typeface="Calibri"/>
        <a:font script="Cyrl" typeface="Calibri"/>
        <a:font script="Jpan" typeface="HGｺﾞｼｯｸM"/>
        <a:font script="Hang" typeface="바탕"/>
        <a:font script="Hans" typeface="幼圆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Perpetua"/>
        <a:ea typeface=""/>
        <a:cs typeface=""/>
        <a:font script="Grek" typeface="Cambria"/>
        <a:font script="Cyrl" typeface="Cambria"/>
        <a:font script="Jpan" typeface="HG創英ﾌﾟﾚｾﾞﾝｽEB"/>
        <a:font script="Hang" typeface="맑은 고딕"/>
        <a:font script="Hans" typeface="宋体"/>
        <a:font script="Hant" typeface="新細明體"/>
        <a:font script="Arab" typeface="Times New Roman"/>
        <a:font script="Hebr" typeface="Aharoni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Справедливость">
      <a: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tint val="30000"/>
                <a:satMod val="300000"/>
              </a:schemeClr>
              <a:schemeClr val="phClr">
                <a:tint val="40000"/>
                <a:satMod val="200000"/>
              </a:schemeClr>
            </a:duotone>
          </a:blip>
          <a:tile tx="0" ty="0" sx="70000" sy="70000" flip="none" algn="ctr"/>
        </a:blipFill>
        <a:blipFill>
          <a:blip xmlns:r="http://schemas.openxmlformats.org/officeDocument/2006/relationships" r:embed="rId1">
            <a:duotone>
              <a:schemeClr val="phClr">
                <a:shade val="22000"/>
                <a:satMod val="160000"/>
              </a:schemeClr>
              <a:schemeClr val="phClr">
                <a:shade val="45000"/>
                <a:satMod val="100000"/>
              </a:schemeClr>
            </a:duotone>
          </a:blip>
          <a:tile tx="0" ty="0" sx="65000" sy="65000" flip="none" algn="ctr"/>
        </a:blipFill>
      </a:fillStyleLst>
      <a:lnStyleLst>
        <a:ln w="9525" cap="flat" cmpd="sng" algn="ctr">
          <a:solidFill>
            <a:schemeClr val="phClr">
              <a:shade val="60000"/>
              <a:satMod val="11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50800" dir="5400000" algn="t" rotWithShape="0">
              <a:srgbClr val="000000">
                <a:alpha val="60000"/>
              </a:srgbClr>
            </a:outerShdw>
          </a:effectLst>
          <a:scene3d>
            <a:camera prst="isometricBottomUp" fov="0">
              <a:rot lat="0" lon="0" rev="0"/>
            </a:camera>
            <a:lightRig rig="soft" dir="b">
              <a:rot lat="0" lon="0" rev="9000000"/>
            </a:lightRig>
          </a:scene3d>
          <a:sp3d contourW="35000" prstMaterial="matte">
            <a:bevelT w="45000" h="38100" prst="convex"/>
            <a:contourClr>
              <a:schemeClr val="phClr">
                <a:tint val="1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0000"/>
                <a:satMod val="165000"/>
              </a:schemeClr>
            </a:gs>
            <a:gs pos="50000">
              <a:schemeClr val="phClr">
                <a:shade val="80000"/>
                <a:satMod val="155000"/>
              </a:schemeClr>
            </a:gs>
            <a:gs pos="100000">
              <a:schemeClr val="phClr">
                <a:tint val="95000"/>
                <a:satMod val="20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tint val="95000"/>
                <a:satMod val="200000"/>
              </a:schemeClr>
              <a:schemeClr val="phClr">
                <a:shade val="80000"/>
                <a:satMod val="100000"/>
              </a:schemeClr>
            </a:duotone>
          </a:blip>
          <a:tile tx="0" ty="0" sx="55000" sy="5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Equity</Template>
  <TotalTime>283</TotalTime>
  <Words>54</Words>
  <Application>Microsoft Office PowerPoint</Application>
  <PresentationFormat>Экран (4:3)</PresentationFormat>
  <Paragraphs>40</Paragraphs>
  <Slides>10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Справедливость</vt:lpstr>
      <vt:lpstr>Расстояние Дамерау-Левенштейна</vt:lpstr>
      <vt:lpstr>Описание задач, которые ставятся перед алгоритмом:</vt:lpstr>
      <vt:lpstr>Использование алгоритма:</vt:lpstr>
      <vt:lpstr>Идея реализации алгоритма:</vt:lpstr>
      <vt:lpstr>Псевдокод:</vt:lpstr>
      <vt:lpstr>Скидки </vt:lpstr>
      <vt:lpstr>Оптимизация:</vt:lpstr>
      <vt:lpstr>График быстродействия</vt:lpstr>
      <vt:lpstr>Оценка сложности:</vt:lpstr>
      <vt:lpstr> Спасибо за внимание!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Расстояние Дамерау-Левенштейна</dc:title>
  <dc:creator>StudentNet</dc:creator>
  <cp:lastModifiedBy>WORK</cp:lastModifiedBy>
  <cp:revision>19</cp:revision>
  <dcterms:created xsi:type="dcterms:W3CDTF">2016-12-10T09:43:32Z</dcterms:created>
  <dcterms:modified xsi:type="dcterms:W3CDTF">2016-12-24T00:54:01Z</dcterms:modified>
</cp:coreProperties>
</file>