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notesMasterIdLst>
    <p:notesMasterId r:id="rId10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37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349A2D-92F5-4710-BE67-6E77C08361D3}" type="datetimeFigureOut">
              <a:rPr lang="uk-UA" smtClean="0"/>
              <a:t>10.12.2016</a:t>
            </a:fld>
            <a:endParaRPr lang="uk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215CCE-AF23-4495-999C-AAA41A96BE05}" type="slidenum">
              <a:rPr lang="uk-UA" smtClean="0"/>
              <a:t>‹#›</a:t>
            </a:fld>
            <a:endParaRPr lang="uk-U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Скругленный прямоугольник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7AECD-0823-41BA-9D8B-C368E8118785}" type="datetime1">
              <a:rPr lang="uk-UA" smtClean="0"/>
              <a:t>10.12.2016</a:t>
            </a:fld>
            <a:endParaRPr lang="uk-UA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8C1BB2CE-649B-4B5B-84DD-9887057A02CF}" type="slidenum">
              <a:rPr lang="uk-UA" smtClean="0"/>
              <a:t>‹#›</a:t>
            </a:fld>
            <a:endParaRPr lang="uk-UA"/>
          </a:p>
        </p:txBody>
      </p:sp>
      <p:sp>
        <p:nvSpPr>
          <p:cNvPr id="7" name="Прямоугольник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80563-11F3-4593-B5E4-AA06B1BEF6B9}" type="datetime1">
              <a:rPr lang="uk-UA" smtClean="0"/>
              <a:t>10.12.2016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BB2CE-649B-4B5B-84DD-9887057A02CF}" type="slidenum">
              <a:rPr lang="uk-UA" smtClean="0"/>
              <a:t>‹#›</a:t>
            </a:fld>
            <a:endParaRPr lang="uk-UA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Скругленный прямоугольник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170B0-1960-4FF3-8309-C820EA024C9A}" type="datetime1">
              <a:rPr lang="uk-UA" smtClean="0"/>
              <a:t>10.12.2016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uk-UA"/>
          </a:p>
        </p:txBody>
      </p:sp>
      <p:sp>
        <p:nvSpPr>
          <p:cNvPr id="7" name="Прямоугольник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рямоугольник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8C1BB2CE-649B-4B5B-84DD-9887057A02CF}" type="slidenum">
              <a:rPr lang="uk-UA" smtClean="0"/>
              <a:t>‹#›</a:t>
            </a:fld>
            <a:endParaRPr lang="uk-UA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81642-BF58-4433-8133-7F391E894A7F}" type="datetime1">
              <a:rPr lang="uk-UA" smtClean="0"/>
              <a:t>10.12.2016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BB2CE-649B-4B5B-84DD-9887057A02CF}" type="slidenum">
              <a:rPr lang="uk-UA" smtClean="0"/>
              <a:t>‹#›</a:t>
            </a:fld>
            <a:endParaRPr lang="uk-UA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900A1-D0A2-4CDF-839B-A5624CBDB681}" type="datetime1">
              <a:rPr lang="uk-UA" smtClean="0"/>
              <a:t>10.12.2016</a:t>
            </a:fld>
            <a:endParaRPr lang="uk-UA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BB2CE-649B-4B5B-84DD-9887057A02CF}" type="slidenum">
              <a:rPr lang="uk-UA" smtClean="0"/>
              <a:t>‹#›</a:t>
            </a:fld>
            <a:endParaRPr lang="uk-UA"/>
          </a:p>
        </p:txBody>
      </p:sp>
      <p:sp>
        <p:nvSpPr>
          <p:cNvPr id="11" name="Содержимое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7DD46-EB00-41A1-805A-61CC4BD99E66}" type="datetime1">
              <a:rPr lang="uk-UA" smtClean="0"/>
              <a:t>10.12.2016</a:t>
            </a:fld>
            <a:endParaRPr lang="uk-UA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BB2CE-649B-4B5B-84DD-9887057A02CF}" type="slidenum">
              <a:rPr lang="uk-UA" smtClean="0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85585-BA18-4958-B1C1-D6A93BAFB0B3}" type="datetime1">
              <a:rPr lang="uk-UA" smtClean="0"/>
              <a:t>10.12.2016</a:t>
            </a:fld>
            <a:endParaRPr lang="uk-UA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BB2CE-649B-4B5B-84DD-9887057A02CF}" type="slidenum">
              <a:rPr lang="uk-UA" smtClean="0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Скругленный прямоугольник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CD531-4820-4EDE-AFA1-89ED44638702}" type="datetime1">
              <a:rPr lang="uk-UA" smtClean="0"/>
              <a:t>10.12.2016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BB2CE-649B-4B5B-84DD-9887057A02CF}" type="slidenum">
              <a:rPr lang="uk-UA" smtClean="0"/>
              <a:t>‹#›</a:t>
            </a:fld>
            <a:endParaRPr lang="uk-UA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81F4-89A1-4562-9E95-8322C06D08E2}" type="datetime1">
              <a:rPr lang="uk-UA" smtClean="0"/>
              <a:t>10.12.2016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8C1BB2CE-649B-4B5B-84DD-9887057A02CF}" type="slidenum">
              <a:rPr lang="uk-UA" smtClean="0"/>
              <a:t>‹#›</a:t>
            </a:fld>
            <a:endParaRPr lang="uk-UA"/>
          </a:p>
        </p:txBody>
      </p:sp>
      <p:sp>
        <p:nvSpPr>
          <p:cNvPr id="11" name="Прямоугольник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оугольник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77A92-4CB5-437E-8C68-457ED5DC7689}" type="datetime1">
              <a:rPr lang="uk-UA" smtClean="0"/>
              <a:t>10.12.2016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BB2CE-649B-4B5B-84DD-9887057A02CF}" type="slidenum">
              <a:rPr lang="uk-UA" smtClean="0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AE8A-62D7-4081-BE15-8A7122D01E78}" type="datetime1">
              <a:rPr lang="uk-UA" smtClean="0"/>
              <a:t>10.12.2016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BB2CE-649B-4B5B-84DD-9887057A02CF}" type="slidenum">
              <a:rPr lang="uk-UA" smtClean="0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Скругленный прямоугольник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16479D9-8B30-4CF6-AD7C-08B6756F0D71}" type="datetime1">
              <a:rPr lang="uk-UA" smtClean="0"/>
              <a:t>10.12.2016</a:t>
            </a:fld>
            <a:endParaRPr lang="uk-UA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uk-UA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8C1BB2CE-649B-4B5B-84DD-9887057A02CF}" type="slidenum">
              <a:rPr lang="uk-UA" smtClean="0"/>
              <a:t>‹#›</a:t>
            </a:fld>
            <a:endParaRPr lang="uk-U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одзаголовок 9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(</a:t>
            </a:r>
            <a:r>
              <a:rPr lang="ru-RU" dirty="0" err="1" smtClean="0"/>
              <a:t>Левенштейн++</a:t>
            </a:r>
            <a:r>
              <a:rPr lang="ru-RU" dirty="0" smtClean="0"/>
              <a:t>)</a:t>
            </a:r>
            <a:endParaRPr lang="uk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BB2CE-649B-4B5B-84DD-9887057A02CF}" type="slidenum">
              <a:rPr lang="uk-UA" smtClean="0"/>
              <a:pPr/>
              <a:t>1</a:t>
            </a:fld>
            <a:endParaRPr lang="uk-UA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mtClean="0"/>
              <a:t>Расстояние Дамерау-Левенштейна</a:t>
            </a:r>
            <a:endParaRPr lang="uk-UA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Описание задач, которые ставятся перед алгоритмом:</a:t>
            </a:r>
            <a:endParaRPr lang="uk-UA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ru-RU" dirty="0" smtClean="0"/>
              <a:t>	Нам необходимо находить редакционное расстояние между двумя строками. Алгоритм является модифицированным расстоянием Левенштейна и в нем позволяются следующие операции:</a:t>
            </a:r>
          </a:p>
          <a:p>
            <a:pPr>
              <a:buFontTx/>
              <a:buChar char="-"/>
            </a:pPr>
            <a:r>
              <a:rPr lang="ru-RU" dirty="0" smtClean="0"/>
              <a:t>Вставка символа</a:t>
            </a:r>
          </a:p>
          <a:p>
            <a:pPr>
              <a:buFontTx/>
              <a:buChar char="-"/>
            </a:pPr>
            <a:r>
              <a:rPr lang="ru-RU" dirty="0" smtClean="0"/>
              <a:t>Удаление символа</a:t>
            </a:r>
          </a:p>
          <a:p>
            <a:pPr>
              <a:buFontTx/>
              <a:buChar char="-"/>
            </a:pPr>
            <a:r>
              <a:rPr lang="ru-RU" dirty="0" smtClean="0"/>
              <a:t>Замена символа</a:t>
            </a:r>
          </a:p>
          <a:p>
            <a:pPr>
              <a:buFontTx/>
              <a:buChar char="-"/>
            </a:pPr>
            <a:r>
              <a:rPr lang="ru-RU" dirty="0" smtClean="0"/>
              <a:t>Перестановка соседних элементов</a:t>
            </a:r>
          </a:p>
          <a:p>
            <a:pPr>
              <a:buNone/>
            </a:pPr>
            <a:r>
              <a:rPr lang="ru-RU" dirty="0" smtClean="0"/>
              <a:t>    По умолчанию все операции имеют вес равный единице. </a:t>
            </a:r>
            <a:endParaRPr lang="uk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BB2CE-649B-4B5B-84DD-9887057A02CF}" type="slidenum">
              <a:rPr lang="uk-UA" smtClean="0"/>
              <a:t>2</a:t>
            </a:fld>
            <a:endParaRPr lang="uk-UA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Использование алгоритма:</a:t>
            </a:r>
            <a:endParaRPr lang="uk-UA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	Поиск расстояния </a:t>
            </a:r>
            <a:r>
              <a:rPr lang="ru-RU" dirty="0" err="1" smtClean="0"/>
              <a:t>Дамерау-Левенштейна</a:t>
            </a:r>
            <a:r>
              <a:rPr lang="ru-RU" dirty="0" smtClean="0"/>
              <a:t> используется в поисковых системах и в целях сравнения ДНК.</a:t>
            </a:r>
            <a:endParaRPr lang="uk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BB2CE-649B-4B5B-84DD-9887057A02CF}" type="slidenum">
              <a:rPr lang="uk-UA" smtClean="0"/>
              <a:t>3</a:t>
            </a:fld>
            <a:endParaRPr lang="uk-UA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Идея реализации алгоритма:</a:t>
            </a:r>
            <a:endParaRPr lang="uk-UA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	Алгоритм реализуется при использовании динамического программирования. Идея заключается в поиске наименьшего количества действий для превращения </a:t>
            </a:r>
            <a:r>
              <a:rPr lang="en-US" dirty="0" err="1" smtClean="0"/>
              <a:t>i</a:t>
            </a:r>
            <a:r>
              <a:rPr lang="ru-RU" dirty="0" smtClean="0"/>
              <a:t> </a:t>
            </a:r>
            <a:r>
              <a:rPr lang="en-US" dirty="0" smtClean="0"/>
              <a:t>- </a:t>
            </a:r>
            <a:r>
              <a:rPr lang="ru-RU" dirty="0" smtClean="0"/>
              <a:t>того префикса первой строки в </a:t>
            </a:r>
            <a:r>
              <a:rPr lang="en-US" dirty="0" smtClean="0"/>
              <a:t>j</a:t>
            </a:r>
            <a:r>
              <a:rPr lang="ru-RU" dirty="0" smtClean="0"/>
              <a:t> – </a:t>
            </a:r>
            <a:r>
              <a:rPr lang="ru-RU" dirty="0" err="1" smtClean="0"/>
              <a:t>й</a:t>
            </a:r>
            <a:r>
              <a:rPr lang="ru-RU" dirty="0" smtClean="0"/>
              <a:t> префикс второй. Соответственно, для каждого </a:t>
            </a:r>
            <a:r>
              <a:rPr lang="ru-RU" dirty="0" err="1" smtClean="0"/>
              <a:t>перфикса</a:t>
            </a:r>
            <a:r>
              <a:rPr lang="ru-RU" dirty="0" smtClean="0"/>
              <a:t> первой строки мы перебираем все возможные префиксы второй строки.</a:t>
            </a:r>
            <a:endParaRPr lang="uk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BB2CE-649B-4B5B-84DD-9887057A02CF}" type="slidenum">
              <a:rPr lang="uk-UA" smtClean="0"/>
              <a:t>4</a:t>
            </a:fld>
            <a:endParaRPr lang="uk-UA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Псевдокод:</a:t>
            </a:r>
            <a:endParaRPr lang="uk-UA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</a:t>
            </a:r>
            <a:r>
              <a:rPr lang="en-US" dirty="0" smtClean="0"/>
              <a:t>for ( </a:t>
            </a:r>
            <a:r>
              <a:rPr lang="en-US" dirty="0" err="1" smtClean="0"/>
              <a:t>i</a:t>
            </a:r>
            <a:r>
              <a:rPr lang="en-US" dirty="0" smtClean="0"/>
              <a:t> = 1; </a:t>
            </a:r>
            <a:r>
              <a:rPr lang="en-US" dirty="0" smtClean="0"/>
              <a:t>i</a:t>
            </a:r>
            <a:r>
              <a:rPr lang="en-US" dirty="0" smtClean="0"/>
              <a:t> &lt; str1.size(); ++</a:t>
            </a:r>
            <a:r>
              <a:rPr lang="en-US" dirty="0" err="1" smtClean="0"/>
              <a:t>i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for ( j = 1; j &lt; str2.size(); ++j)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	</a:t>
            </a:r>
            <a:r>
              <a:rPr lang="en-US" dirty="0" err="1" smtClean="0"/>
              <a:t>pref</a:t>
            </a:r>
            <a:r>
              <a:rPr lang="en-US" dirty="0" smtClean="0"/>
              <a:t>[</a:t>
            </a:r>
            <a:r>
              <a:rPr lang="en-US" dirty="0" err="1" smtClean="0"/>
              <a:t>i</a:t>
            </a:r>
            <a:r>
              <a:rPr lang="en-US" dirty="0" smtClean="0"/>
              <a:t>][j] = min (</a:t>
            </a:r>
            <a:r>
              <a:rPr lang="en-US" dirty="0" err="1" smtClean="0"/>
              <a:t>pref</a:t>
            </a:r>
            <a:r>
              <a:rPr lang="en-US" dirty="0" smtClean="0"/>
              <a:t>[i-1][j]</a:t>
            </a:r>
            <a:r>
              <a:rPr lang="ru-RU" dirty="0" smtClean="0"/>
              <a:t> + </a:t>
            </a:r>
            <a:r>
              <a:rPr lang="en-US" dirty="0" err="1" smtClean="0"/>
              <a:t>cost_del</a:t>
            </a:r>
            <a:r>
              <a:rPr lang="en-US" dirty="0" smtClean="0"/>
              <a:t>,  </a:t>
            </a:r>
            <a:r>
              <a:rPr lang="en-US" dirty="0" err="1" smtClean="0"/>
              <a:t>pref</a:t>
            </a:r>
            <a:r>
              <a:rPr lang="en-US" dirty="0" smtClean="0"/>
              <a:t>[i-1][j-1] + </a:t>
            </a:r>
            <a:r>
              <a:rPr lang="en-US" dirty="0" err="1" smtClean="0"/>
              <a:t>cost_zam</a:t>
            </a:r>
            <a:r>
              <a:rPr lang="en-US" dirty="0" smtClean="0"/>
              <a:t>,  </a:t>
            </a:r>
            <a:r>
              <a:rPr lang="en-US" dirty="0" err="1" smtClean="0"/>
              <a:t>pref</a:t>
            </a:r>
            <a:r>
              <a:rPr lang="en-US" dirty="0" smtClean="0"/>
              <a:t>[</a:t>
            </a:r>
            <a:r>
              <a:rPr lang="en-US" dirty="0" err="1" smtClean="0"/>
              <a:t>i</a:t>
            </a:r>
            <a:r>
              <a:rPr lang="en-US" dirty="0" smtClean="0"/>
              <a:t>][j-1] + </a:t>
            </a:r>
            <a:r>
              <a:rPr lang="en-US" dirty="0" err="1" smtClean="0"/>
              <a:t>cost_ins</a:t>
            </a:r>
            <a:r>
              <a:rPr lang="en-US" dirty="0" smtClean="0"/>
              <a:t>, </a:t>
            </a:r>
            <a:r>
              <a:rPr lang="en-US" dirty="0" err="1" smtClean="0"/>
              <a:t>pref</a:t>
            </a:r>
            <a:r>
              <a:rPr lang="en-US" dirty="0" smtClean="0"/>
              <a:t>[i-2][j-2] + </a:t>
            </a:r>
            <a:r>
              <a:rPr lang="en-US" dirty="0" err="1" smtClean="0"/>
              <a:t>cost_ch</a:t>
            </a:r>
            <a:r>
              <a:rPr lang="en-US" dirty="0" smtClean="0"/>
              <a:t>)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ru-RU" dirty="0" smtClean="0"/>
              <a:t>	При реализации следует учесть, что стоимость, в нашем случае, варьируется для двух действий:</a:t>
            </a:r>
          </a:p>
          <a:p>
            <a:pPr>
              <a:buNone/>
            </a:pPr>
            <a:r>
              <a:rPr lang="ru-RU" dirty="0" smtClean="0"/>
              <a:t>	</a:t>
            </a:r>
            <a:r>
              <a:rPr lang="ru-RU" dirty="0" smtClean="0"/>
              <a:t>Замены и Перестановки: потому что, если заменяемые либо переставляемые элементы равны – операция выполняется бесплатно.</a:t>
            </a:r>
          </a:p>
          <a:p>
            <a:pPr>
              <a:buNone/>
            </a:pPr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BB2CE-649B-4B5B-84DD-9887057A02CF}" type="slidenum">
              <a:rPr lang="uk-UA" smtClean="0"/>
              <a:t>5</a:t>
            </a:fld>
            <a:endParaRPr lang="uk-UA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Оптимизация:</a:t>
            </a:r>
            <a:endParaRPr lang="uk-UA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</a:t>
            </a:r>
            <a:r>
              <a:rPr lang="ru-RU" dirty="0" smtClean="0"/>
              <a:t> Исходя из псевдокода мы</a:t>
            </a:r>
            <a:r>
              <a:rPr lang="en-US" dirty="0" smtClean="0"/>
              <a:t> </a:t>
            </a:r>
            <a:r>
              <a:rPr lang="ru-RU" dirty="0" smtClean="0"/>
              <a:t>видим, что одновременно используются только данные для трех префиксов, следовательно нам достаточно хранить 3 массива длинной </a:t>
            </a:r>
            <a:r>
              <a:rPr lang="en-US" dirty="0" smtClean="0"/>
              <a:t>m, </a:t>
            </a:r>
            <a:r>
              <a:rPr lang="ru-RU" dirty="0" smtClean="0"/>
              <a:t>где </a:t>
            </a:r>
            <a:r>
              <a:rPr lang="en-US" dirty="0" smtClean="0"/>
              <a:t>m</a:t>
            </a:r>
            <a:r>
              <a:rPr lang="ru-RU" dirty="0" smtClean="0"/>
              <a:t> – длинна второй строки. Поэтому сложность по памяти эквивалента </a:t>
            </a:r>
            <a:r>
              <a:rPr lang="en-US" dirty="0" smtClean="0"/>
              <a:t>O</a:t>
            </a:r>
            <a:r>
              <a:rPr lang="en-US" dirty="0" smtClean="0"/>
              <a:t>(m) </a:t>
            </a:r>
            <a:r>
              <a:rPr lang="ru-RU" dirty="0" smtClean="0"/>
              <a:t>и является линейной.</a:t>
            </a:r>
            <a:endParaRPr lang="uk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BB2CE-649B-4B5B-84DD-9887057A02CF}" type="slidenum">
              <a:rPr lang="uk-UA" smtClean="0"/>
              <a:t>6</a:t>
            </a:fld>
            <a:endParaRPr lang="uk-UA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Оценка сложности:</a:t>
            </a:r>
            <a:endParaRPr lang="uk-UA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</a:t>
            </a:r>
            <a:r>
              <a:rPr lang="ru-RU" dirty="0" smtClean="0"/>
              <a:t>Сложность по памяти, как указывалось на слайде</a:t>
            </a:r>
            <a:r>
              <a:rPr lang="en-US" dirty="0" smtClean="0"/>
              <a:t> </a:t>
            </a:r>
            <a:r>
              <a:rPr lang="en-US" dirty="0" smtClean="0"/>
              <a:t>6</a:t>
            </a:r>
            <a:r>
              <a:rPr lang="ru-RU" dirty="0" smtClean="0"/>
              <a:t>, равна </a:t>
            </a:r>
            <a:r>
              <a:rPr lang="en-US" dirty="0" smtClean="0"/>
              <a:t>O</a:t>
            </a:r>
            <a:r>
              <a:rPr lang="en-US" dirty="0" smtClean="0"/>
              <a:t>(m).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ru-RU" dirty="0" smtClean="0"/>
              <a:t>Для каждого префикса первой строки мы находим расстояние до каждого префикса второй, поэтому сложность по времени будет </a:t>
            </a:r>
            <a:r>
              <a:rPr lang="en-US" dirty="0" smtClean="0"/>
              <a:t>O(n*m)</a:t>
            </a:r>
            <a:r>
              <a:rPr lang="ru-RU" dirty="0" smtClean="0"/>
              <a:t>, где </a:t>
            </a:r>
            <a:r>
              <a:rPr lang="en-US" dirty="0" smtClean="0"/>
              <a:t>n </a:t>
            </a:r>
            <a:r>
              <a:rPr lang="ru-RU" dirty="0" smtClean="0"/>
              <a:t>и </a:t>
            </a:r>
            <a:r>
              <a:rPr lang="en-US" dirty="0" smtClean="0"/>
              <a:t>m</a:t>
            </a:r>
            <a:r>
              <a:rPr lang="ru-RU" dirty="0" smtClean="0"/>
              <a:t> – длинна первой и второй строки, соответственно.</a:t>
            </a:r>
            <a:endParaRPr lang="uk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BB2CE-649B-4B5B-84DD-9887057A02CF}" type="slidenum">
              <a:rPr lang="uk-UA" smtClean="0"/>
              <a:t>7</a:t>
            </a:fld>
            <a:endParaRPr lang="uk-UA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0100" y="2928934"/>
            <a:ext cx="7772400" cy="1143000"/>
          </a:xfrm>
        </p:spPr>
        <p:txBody>
          <a:bodyPr/>
          <a:lstStyle/>
          <a:p>
            <a:r>
              <a:rPr lang="ru-RU" dirty="0" smtClean="0"/>
              <a:t>	Спасибо за внимание!</a:t>
            </a:r>
            <a:endParaRPr lang="uk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BB2CE-649B-4B5B-84DD-9887057A02CF}" type="slidenum">
              <a:rPr lang="uk-UA" smtClean="0"/>
              <a:t>8</a:t>
            </a:fld>
            <a:endParaRPr lang="uk-UA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праведливость">
  <a:themeElements>
    <a:clrScheme name="Справедливость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Справедливость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Справедливость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65</TotalTime>
  <Words>49</Words>
  <Application>Microsoft Office PowerPoint</Application>
  <PresentationFormat>Экран (4:3)</PresentationFormat>
  <Paragraphs>34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Справедливость</vt:lpstr>
      <vt:lpstr>Расстояние Дамерау-Левенштейна</vt:lpstr>
      <vt:lpstr>Описание задач, которые ставятся перед алгоритмом:</vt:lpstr>
      <vt:lpstr>Использование алгоритма:</vt:lpstr>
      <vt:lpstr>Идея реализации алгоритма:</vt:lpstr>
      <vt:lpstr>Псевдокод:</vt:lpstr>
      <vt:lpstr>Оптимизация:</vt:lpstr>
      <vt:lpstr>Оценка сложности:</vt:lpstr>
      <vt:lpstr> Спасибо за внимание!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Расстояние Дамерау-Левенштейна</dc:title>
  <dc:creator>StudentNet</dc:creator>
  <cp:lastModifiedBy>StudentNet</cp:lastModifiedBy>
  <cp:revision>10</cp:revision>
  <dcterms:created xsi:type="dcterms:W3CDTF">2016-12-10T09:43:32Z</dcterms:created>
  <dcterms:modified xsi:type="dcterms:W3CDTF">2016-12-10T10:49:20Z</dcterms:modified>
</cp:coreProperties>
</file>